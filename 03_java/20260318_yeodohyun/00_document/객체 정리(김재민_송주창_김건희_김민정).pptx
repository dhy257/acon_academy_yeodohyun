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5" r:id="rId14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printerSettings" Target="printerSettings/printerSettings1.bin"></Relationship><Relationship Id="rId2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slide" Target="slides/slide1.xml"></Relationship><Relationship Id="rId17" Type="http://schemas.openxmlformats.org/officeDocument/2006/relationships/slide" Target="slides/slide2.xml"></Relationship><Relationship Id="rId18" Type="http://schemas.openxmlformats.org/officeDocument/2006/relationships/slide" Target="slides/slide3.xml"></Relationship><Relationship Id="rId19" Type="http://schemas.openxmlformats.org/officeDocument/2006/relationships/slide" Target="slides/slide4.xml"></Relationship><Relationship Id="rId20" Type="http://schemas.openxmlformats.org/officeDocument/2006/relationships/slide" Target="slides/slide5.xml"></Relationship><Relationship Id="rId21" Type="http://schemas.openxmlformats.org/officeDocument/2006/relationships/slide" Target="slides/slide6.xml"></Relationship><Relationship Id="rId22" Type="http://schemas.openxmlformats.org/officeDocument/2006/relationships/slide" Target="slides/slide7.xml"></Relationship><Relationship Id="rId23" Type="http://schemas.openxmlformats.org/officeDocument/2006/relationships/slide" Target="slides/slide8.xml"></Relationship><Relationship Id="rId24" Type="http://schemas.openxmlformats.org/officeDocument/2006/relationships/viewProps" Target="viewProps.xml"></Relationship><Relationship Id="rId25" Type="http://schemas.openxmlformats.org/officeDocument/2006/relationships/presProps" Target="presProps.xml"></Relationship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48640"/>
            <a:ext cx="11868785" cy="457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263640"/>
            <a:ext cx="11868785" cy="4572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400" b="1" i="0">
                <a:solidFill>
                  <a:srgbClr val="FFFFFF"/>
                </a:solidFill>
                <a:latin typeface="맑은 고딕"/>
              </a:rPr>
              <a:t>캡슐화 및 객체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1">
                <a:solidFill>
                  <a:srgbClr val="89B4FA"/>
                </a:solidFill>
                <a:latin typeface="맑은 고딕"/>
              </a:rPr>
              <a:t>Object-Oriented Programming in 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97680"/>
            <a:ext cx="1371600" cy="4114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79265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6E3A1"/>
                </a:solidFill>
                <a:latin typeface="맑은 고딕"/>
              </a:rPr>
              <a:t>객체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297680"/>
            <a:ext cx="1371600" cy="4114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4279265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6E3A1"/>
                </a:solidFill>
                <a:latin typeface="맑은 고딕"/>
              </a:rPr>
              <a:t>생성자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97680"/>
            <a:ext cx="1371600" cy="4114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279265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6E3A1"/>
                </a:solidFill>
                <a:latin typeface="맑은 고딕"/>
              </a:rPr>
              <a:t>변수 초기화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297680"/>
            <a:ext cx="1371600" cy="4114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279265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6E3A1"/>
                </a:solidFill>
                <a:latin typeface="맑은 고딕"/>
              </a:rPr>
              <a:t>상속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4297680"/>
            <a:ext cx="1371600" cy="4114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279265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6E3A1"/>
                </a:solidFill>
                <a:latin typeface="맑은 고딕"/>
              </a:rPr>
              <a:t>캡슐화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4297680"/>
            <a:ext cx="1371600" cy="4114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279265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6E3A1"/>
                </a:solidFill>
                <a:latin typeface="맑은 고딕"/>
              </a:rPr>
              <a:t>static</a:t>
            </a:r>
          </a:p>
        </p:txBody>
      </p:sp>
      <p:sp>
        <p:nvSpPr>
          <p:cNvPr id="19" name="텍스트 상자 1"/>
          <p:cNvSpPr txBox="1">
            <a:spLocks/>
          </p:cNvSpPr>
          <p:nvPr/>
        </p:nvSpPr>
        <p:spPr>
          <a:xfrm rot="0">
            <a:off x="10974070" y="4974590"/>
            <a:ext cx="946150" cy="120078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김재민 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송주창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김건희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김민정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515600" cy="3683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03520" cy="13716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0" cy="13716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E1E2E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객체와 생성자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5303520" cy="13716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640080" cy="13716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E1E2E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3756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변수 초기화의 종류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5303520" cy="13716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640080" cy="13716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E1E2E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983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상속 (Inheritance)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280160"/>
            <a:ext cx="5303520" cy="13716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280160"/>
            <a:ext cx="64008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459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E1E2E"/>
                </a:solidFill>
                <a:latin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오버라이드 &amp; 다형성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926080"/>
            <a:ext cx="5303520" cy="13716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926080"/>
            <a:ext cx="640080" cy="13716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9184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E1E2E"/>
                </a:solidFill>
                <a:latin typeface="맑은 고딕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33756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Getter / Setter &amp; 캡슐화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89B4FA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객체와 생성자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515600" cy="3683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03520" cy="210312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07135"/>
            <a:ext cx="4937760" cy="4203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E1E2E"/>
                </a:solidFill>
                <a:latin typeface="맑은 고딕"/>
              </a:rPr>
              <a:t>객체 (Object)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DD6F4"/>
                </a:solidFill>
                <a:latin typeface="맑은 고딕"/>
              </a:rPr>
              <a:t>클래스를 기반으로 만들어진 실체
• 속성(필드)과 행동(메서드)을 가짐
• new 키워드로 생성
• 각 객체는 독립적인 메모리 공간 보유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03520" cy="210312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07135"/>
            <a:ext cx="4937760" cy="4203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E1E2E"/>
                </a:solidFill>
                <a:latin typeface="맑은 고딕"/>
              </a:rPr>
              <a:t>생성자 (Constructor)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DD6F4"/>
                </a:solidFill>
                <a:latin typeface="맑은 고딕"/>
              </a:rPr>
              <a:t>객체가 만들어질 때 자동으로 실행되는
특별한 메서드
• 클래스 이름과 동일
• 반환 타입 없음
• 주로 인스턴스 변수 초기화에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1064240" cy="306324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C7086"/>
                </a:solidFill>
                <a:latin typeface="맑은 고딕"/>
              </a:rPr>
              <a:t>// 예시 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105156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A6E3A1"/>
                </a:solidFill>
                <a:latin typeface="맑은 고딕"/>
              </a:rPr>
              <a:t>class Dog {
    String name;        // 인스턴스 변수
    int age;
    Dog(String name, int age) {   // 생성자
        this.name = name;
        this.age  = age;
    }
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A6E3A1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변수 초기화의 종류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515600" cy="3683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657600" cy="52120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657600" cy="6400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025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E2E"/>
                </a:solidFill>
                <a:latin typeface="맑은 고딕"/>
              </a:rPr>
              <a:t>지역 변수
Local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메서드 안에서만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6324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기능 안에서 잠깐 필요한 값 저장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6052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자동 초기화 안 됨 (직접 초기화 필수)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25780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메서드 종료 시 소멸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188720"/>
            <a:ext cx="3657600" cy="52120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188720"/>
            <a:ext cx="365760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216025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E2E"/>
                </a:solidFill>
                <a:latin typeface="맑은 고딕"/>
              </a:rPr>
              <a:t>인스턴스 변수
Instance Variable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96596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0116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객체가 만들어질 때 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06324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10896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객체의 상태/특징 정보 저장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16052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20624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객체마다 독립적으로 존재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525780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53035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자동 초기화됨 (0, null, false)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188720"/>
            <a:ext cx="3657600" cy="52120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188720"/>
            <a:ext cx="3657600" cy="6400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216025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E2E"/>
                </a:solidFill>
                <a:latin typeface="맑은 고딕"/>
              </a:rPr>
              <a:t>static 변수
Class Variable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196596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20116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클래스 전체가 공유하는 변수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06324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310896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공통으로 사용하는 값 저장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416052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420624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객체 없이도 사용 가능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5257800"/>
            <a:ext cx="338328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53035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자동 초기화됨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38BA8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상속 (Inheritance)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515600" cy="3683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00584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CDD6F4"/>
                </a:solidFill>
                <a:latin typeface="맑은 고딕"/>
              </a:rPr>
              <a:t>부모 클래스(extends)의 코드를 자식 클래스가 재사용할 수 있게 해주어 코드 중복을 줄여줍니다.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377440"/>
            <a:ext cx="3200400" cy="1097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2377440"/>
            <a:ext cx="3200400" cy="36576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395855"/>
            <a:ext cx="3017520" cy="347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1E2E"/>
                </a:solidFill>
                <a:latin typeface="맑은 고딕"/>
              </a:rPr>
              <a:t>부모 클래스 (Animal)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8892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CDD6F4"/>
                </a:solidFill>
                <a:latin typeface="맑은 고딕"/>
              </a:rPr>
              <a:t>• 공통 속성
• 공통 메서드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6118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38BA8"/>
                </a:solidFill>
                <a:latin typeface="맑은 고딕"/>
              </a:rPr>
              <a:t>↓  extends  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114800"/>
            <a:ext cx="3200400" cy="1097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4114800"/>
            <a:ext cx="3200400" cy="3657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4133215"/>
            <a:ext cx="3017520" cy="347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1E2E"/>
                </a:solidFill>
                <a:latin typeface="맑은 고딕"/>
              </a:rPr>
              <a:t>자식 클래스 (Dog)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52628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CDD6F4"/>
                </a:solidFill>
                <a:latin typeface="맑은 고딕"/>
              </a:rPr>
              <a:t>• 부모 속성/메서드 상속
• 추가 기능 정의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40280"/>
            <a:ext cx="5486400" cy="420624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C7086"/>
                </a:solidFill>
                <a:latin typeface="맑은 고딕"/>
              </a:rPr>
              <a:t>// 상속 예시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502920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9B4FA"/>
                </a:solidFill>
                <a:latin typeface="맑은 고딕"/>
              </a:rPr>
              <a:t>class Animal {
    String name;
    void eat() {
        System.out.println(name + " 먹는다");
    }
}
class Dog extends Animal {
    void bark() {
        System.out.println("멍멍!");
    }
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AB387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오버라이드 &amp; 다형성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515600" cy="3683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03520" cy="24688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303520" cy="4572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61415"/>
            <a:ext cx="4937760" cy="4203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E2E"/>
                </a:solidFill>
                <a:latin typeface="맑은 고딕"/>
              </a:rPr>
              <a:t>@Override  (오버라이드)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937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부모 메서드를 자식 클래스에서 새롭게 정의
→ 같은 메서드가 객체마다 다르게 동작
규칙:
• 메서드 이름, 매개변수, 반환 타입 동일
• @Override 어노테이션 권장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303520" cy="246888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30352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61415"/>
            <a:ext cx="4937760" cy="4203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E2E"/>
                </a:solidFill>
                <a:latin typeface="맑은 고딕"/>
              </a:rPr>
              <a:t>다형성 (Polymorphism)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937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상속 + 오버라이드를 함께 활용
→ 유연하고 확장 가능한 구조
• 부모 타입으로 자식 객체 참조 가능
• 실제 실행은 자식 메서드로 동작
• 코드 재사용성 극대화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40"/>
            <a:ext cx="11064240" cy="27432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22065"/>
            <a:ext cx="10515600" cy="347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C7086"/>
                </a:solidFill>
                <a:latin typeface="맑은 고딕"/>
              </a:rPr>
              <a:t>// 오버라이드 &amp; 다형성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5156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6E3A1"/>
                </a:solidFill>
                <a:latin typeface="맑은 고딕"/>
              </a:rPr>
              <a:t>class Animal { void sound() { System.out.println("..."); } }
class Dog extends Animal { @Override void sound() { System.out.println("멍멍"); } }
class Cat extends Animal { @Override void sound() { System.out.println("야옹"); } }
Animal a = new Dog();  a.sound();  // 출력: 멍멍  ← 다형성!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9E2AF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</a:rPr>
              <a:t>Getter / Setter &amp; 캡슐화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515600" cy="3683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DD6F4"/>
                </a:solidFill>
                <a:latin typeface="맑은 고딕"/>
              </a:rPr>
              <a:t>캡슐화: 데이터를 숨기고(private) 메서드(getter/setter)로만 접근하게 하는 객체지향의 핵심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120640" cy="219456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12064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12975"/>
            <a:ext cx="4754880" cy="4203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E1E2E"/>
                </a:solidFill>
                <a:latin typeface="맑은 고딕"/>
              </a:rPr>
              <a:t>Getter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7548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private 필드를 외부에서 읽을 수 있도록
제공하는 메서드
getXxx() 형태로 작성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5303520" cy="2194560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194560"/>
            <a:ext cx="530352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12975"/>
            <a:ext cx="4937760" cy="4203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E1E2E"/>
                </a:solidFill>
                <a:latin typeface="맑은 고딕"/>
              </a:rPr>
              <a:t>Setter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DD6F4"/>
                </a:solidFill>
                <a:latin typeface="맑은 고딕"/>
              </a:rPr>
              <a:t>private 필드에 값을 쓸 수 있도록
제공하는 메서드
유효성 검사로 잘못된 데이터 차단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90415"/>
            <a:ext cx="10515600" cy="347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C7086"/>
                </a:solidFill>
                <a:latin typeface="맑은 고딕"/>
              </a:rPr>
              <a:t>// Getter / Setter 예시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 rot="0">
            <a:off x="822960" y="4937760"/>
            <a:ext cx="10516235" cy="1509395"/>
          </a:xfrm>
          <a:prstGeom prst="rect"/>
          <a:noFill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1300" i="0" b="0">
                <a:solidFill>
                  <a:srgbClr val="F9E2AF"/>
                </a:solidFill>
                <a:latin typeface="맑은 고딕" charset="0"/>
              </a:rPr>
              <a:t>class Person {</a:t>
            </a:r>
            <a:endParaRPr lang="ko-KR" altLang="en-US" sz="1300" i="0" b="0">
              <a:solidFill>
                <a:srgbClr val="F9E2AF"/>
              </a:solidFill>
              <a:latin typeface="맑은 고딕" charset="0"/>
            </a:endParaRPr>
          </a:p>
          <a:p>
            <a:pPr marL="0" indent="0" algn="l">
              <a:buFontTx/>
              <a:buNone/>
            </a:pPr>
            <a:r>
              <a:rPr sz="1300" i="0" b="0">
                <a:solidFill>
                  <a:srgbClr val="F9E2AF"/>
                </a:solidFill>
                <a:latin typeface="맑은 고딕" charset="0"/>
              </a:rPr>
              <a:t>    private int age;   // 외부 직접 접근 차단</a:t>
            </a:r>
            <a:endParaRPr lang="ko-KR" altLang="en-US" sz="1300" i="0" b="0">
              <a:solidFill>
                <a:srgbClr val="F9E2AF"/>
              </a:solidFill>
              <a:latin typeface="맑은 고딕" charset="0"/>
            </a:endParaRPr>
          </a:p>
          <a:p>
            <a:pPr marL="0" indent="0" algn="l">
              <a:buFontTx/>
              <a:buNone/>
            </a:pPr>
            <a:r>
              <a:rPr sz="1300" i="0" b="0">
                <a:solidFill>
                  <a:srgbClr val="F9E2AF"/>
                </a:solidFill>
                <a:latin typeface="맑은 고딕" charset="0"/>
              </a:rPr>
              <a:t>    public int getAge() { return age; }              // Getter</a:t>
            </a:r>
            <a:endParaRPr lang="ko-KR" altLang="en-US" sz="1300" i="0" b="0">
              <a:solidFill>
                <a:srgbClr val="F9E2AF"/>
              </a:solidFill>
              <a:latin typeface="맑은 고딕" charset="0"/>
            </a:endParaRPr>
          </a:p>
          <a:p>
            <a:pPr marL="0" indent="0" algn="l">
              <a:buFontTx/>
              <a:buNone/>
            </a:pPr>
            <a:r>
              <a:rPr sz="1300" i="0" b="0">
                <a:solidFill>
                  <a:srgbClr val="F9E2AF"/>
                </a:solidFill>
                <a:latin typeface="맑은 고딕" charset="0"/>
              </a:rPr>
              <a:t>    public void setAge(int age) {                    // Setter</a:t>
            </a:r>
            <a:endParaRPr lang="ko-KR" altLang="en-US" sz="1300" i="0" b="0">
              <a:solidFill>
                <a:srgbClr val="F9E2AF"/>
              </a:solidFill>
              <a:latin typeface="맑은 고딕" charset="0"/>
            </a:endParaRPr>
          </a:p>
          <a:p>
            <a:pPr marL="0" indent="0" algn="l">
              <a:buFontTx/>
              <a:buNone/>
            </a:pPr>
            <a:r>
              <a:rPr sz="1300" i="0" b="0">
                <a:solidFill>
                  <a:srgbClr val="F9E2AF"/>
                </a:solidFill>
                <a:latin typeface="맑은 고딕" charset="0"/>
              </a:rPr>
              <a:t>        if (age &gt;= 0) this.age = age;  // 유효성 검사</a:t>
            </a:r>
            <a:endParaRPr lang="ko-KR" altLang="en-US" sz="1300" i="0" b="0">
              <a:solidFill>
                <a:srgbClr val="F9E2AF"/>
              </a:solidFill>
              <a:latin typeface="맑은 고딕" charset="0"/>
            </a:endParaRPr>
          </a:p>
          <a:p>
            <a:pPr marL="0" indent="0" algn="l">
              <a:buFontTx/>
              <a:buNone/>
            </a:pPr>
            <a:r>
              <a:rPr sz="1300" i="0" b="0">
                <a:solidFill>
                  <a:srgbClr val="F9E2AF"/>
                </a:solidFill>
                <a:latin typeface="맑은 고딕" charset="0"/>
              </a:rPr>
              <a:t>    }</a:t>
            </a:r>
            <a:endParaRPr lang="ko-KR" altLang="en-US" sz="1300" i="0" b="0">
              <a:solidFill>
                <a:srgbClr val="F9E2AF"/>
              </a:solidFill>
              <a:latin typeface="맑은 고딕" charset="0"/>
            </a:endParaRPr>
          </a:p>
          <a:p>
            <a:pPr marL="0" indent="0" algn="l">
              <a:buFontTx/>
              <a:buNone/>
            </a:pPr>
            <a:r>
              <a:rPr sz="1300" i="0" b="0">
                <a:solidFill>
                  <a:srgbClr val="F9E2AF"/>
                </a:solidFill>
                <a:latin typeface="맑은 고딕" charset="0"/>
              </a:rPr>
              <a:t>}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320675" cy="6858635"/>
          </a:xfrm>
          <a:prstGeom prst="rect"/>
          <a:solidFill>
            <a:srgbClr val="F9E2AF"/>
          </a:solidFill>
          <a:ln>
            <a:noFill/>
            <a:prstDash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+mn-ea"/>
              <a:cs typeface="+mn-cs"/>
            </a:endParaRPr>
          </a:p>
        </p:txBody>
      </p:sp>
      <p:sp>
        <p:nvSpPr>
          <p:cNvPr id="3" name="텍스트 상자 2"/>
          <p:cNvSpPr txBox="1">
            <a:spLocks/>
          </p:cNvSpPr>
          <p:nvPr/>
        </p:nvSpPr>
        <p:spPr>
          <a:xfrm rot="0">
            <a:off x="3417570" y="3009900"/>
            <a:ext cx="5364480" cy="83185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4800">
                <a:latin typeface="맑은 고딕" charset="0"/>
                <a:ea typeface="맑은 고딕" charset="0"/>
              </a:rPr>
              <a:t>감사합니다 </a:t>
            </a:r>
            <a:r>
              <a:rPr sz="4800">
                <a:latin typeface="맑은 고딕" charset="0"/>
                <a:ea typeface="맑은 고딕" charset="0"/>
              </a:rPr>
              <a:t>!!!!!!!!!!</a:t>
            </a:r>
            <a:endParaRPr lang="ko-KR" altLang="en-US" sz="4800">
              <a:latin typeface="맑은 고딕" charset="0"/>
              <a:ea typeface="맑은 고딕" charset="0"/>
            </a:endParaRPr>
          </a:p>
        </p:txBody>
      </p:sp>
      <p:sp>
        <p:nvSpPr>
          <p:cNvPr id="4" name="도형 3"/>
          <p:cNvSpPr>
            <a:spLocks/>
          </p:cNvSpPr>
          <p:nvPr/>
        </p:nvSpPr>
        <p:spPr>
          <a:xfrm rot="0">
            <a:off x="341630" y="0"/>
            <a:ext cx="11848465" cy="6845300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" name="텍스트 상자 5"/>
          <p:cNvSpPr txBox="1">
            <a:spLocks/>
          </p:cNvSpPr>
          <p:nvPr/>
        </p:nvSpPr>
        <p:spPr>
          <a:xfrm rot="0">
            <a:off x="5610860" y="2611120"/>
            <a:ext cx="1322705" cy="163131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ctr" hangingPunct="1"/>
            <a:r>
              <a:rPr sz="10000">
                <a:solidFill>
                  <a:schemeClr val="bg1"/>
                </a:solidFill>
                <a:latin typeface="맑은 고딕" charset="0"/>
                <a:ea typeface="맑은 고딕" charset="0"/>
              </a:rPr>
              <a:t>감사합니다</a:t>
            </a:r>
            <a:endParaRPr lang="ko-KR" altLang="en-US" sz="100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김건희</cp:lastModifiedBy>
  <cp:version>10.105.293.56114</cp:version>
  <dcterms:modified xsi:type="dcterms:W3CDTF">2013-01-27T09:15:58Z</dcterms:modified>
</cp:coreProperties>
</file>